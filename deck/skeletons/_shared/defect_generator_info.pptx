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5d4367d8d_0_1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g3f5d4367d8d_0_19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Defect Studio is the answer to the #1 objection: 'we don't have enough defect samples.' We generate them — synthetic but constrained, fine-tuned on the customer's good parts and spec. The generated defects look exactly like ones that could actually occur. Then we verify against a small real-defect library before going live. The samples on the right are actual synthetic outputs from Amphenol FCI's 300-SKU rollout — once a roadblock, now a 30-minute changeover.</a:t>
            </a:r>
            <a:endParaRPr/>
          </a:p>
        </p:txBody>
      </p:sp>
      <p:sp>
        <p:nvSpPr>
          <p:cNvPr id="54" name="Google Shape;54;g3f5d4367d8d_0_19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/>
        </p:nvSpPr>
        <p:spPr>
          <a:xfrm>
            <a:off x="411480" y="720090"/>
            <a:ext cx="8229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550"/>
              <a:buFont typeface="Calibri"/>
              <a:buNone/>
            </a:pPr>
            <a:r>
              <a:rPr b="1" i="0" lang="en" sz="2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Can't wait for the rare defect? Generate it.</a:t>
            </a:r>
            <a:endParaRPr/>
          </a:p>
        </p:txBody>
      </p:sp>
      <p:sp>
        <p:nvSpPr>
          <p:cNvPr id="57" name="Google Shape;57;p14"/>
          <p:cNvSpPr txBox="1"/>
          <p:nvPr/>
        </p:nvSpPr>
        <p:spPr>
          <a:xfrm>
            <a:off x="411480" y="1474470"/>
            <a:ext cx="82296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25"/>
              <a:buFont typeface="Calibri"/>
              <a:buNone/>
            </a:pPr>
            <a:r>
              <a:rPr b="0" i="0" lang="en" sz="1125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Synthetic defects, guided by your real ones. A 12.4× faster path from new SKU to production-ready inspection.</a:t>
            </a:r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411480" y="1954530"/>
            <a:ext cx="2331600" cy="2743200"/>
          </a:xfrm>
          <a:prstGeom prst="rect">
            <a:avLst/>
          </a:prstGeom>
          <a:solidFill>
            <a:srgbClr val="532E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4"/>
          <p:cNvSpPr txBox="1"/>
          <p:nvPr/>
        </p:nvSpPr>
        <p:spPr>
          <a:xfrm>
            <a:off x="548640" y="2194560"/>
            <a:ext cx="2057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b="1" i="0" lang="en" sz="6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12.4×</a:t>
            </a:r>
            <a:endParaRPr/>
          </a:p>
        </p:txBody>
      </p:sp>
      <p:sp>
        <p:nvSpPr>
          <p:cNvPr id="60" name="Google Shape;60;p14"/>
          <p:cNvSpPr txBox="1"/>
          <p:nvPr/>
        </p:nvSpPr>
        <p:spPr>
          <a:xfrm>
            <a:off x="548640" y="3634740"/>
            <a:ext cx="20574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Calibri"/>
              <a:buNone/>
            </a:pPr>
            <a:r>
              <a:rPr b="0" i="1" lang="en" sz="9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faster path from new SKU to production-ready inspection</a:t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2880360" y="1954530"/>
            <a:ext cx="2263200" cy="8709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2880360" y="1954530"/>
            <a:ext cx="34200" cy="870900"/>
          </a:xfrm>
          <a:prstGeom prst="rect">
            <a:avLst/>
          </a:prstGeom>
          <a:solidFill>
            <a:srgbClr val="735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017520" y="2057400"/>
            <a:ext cx="34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5CFF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735C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3017520" y="2331720"/>
            <a:ext cx="20574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13"/>
              <a:buFont typeface="Calibri"/>
              <a:buNone/>
            </a:pPr>
            <a:r>
              <a:rPr b="1" i="0" lang="en" sz="1013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Capture good parts</a:t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2880360" y="2880360"/>
            <a:ext cx="2263200" cy="8709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2880360" y="2880360"/>
            <a:ext cx="34200" cy="870900"/>
          </a:xfrm>
          <a:prstGeom prst="rect">
            <a:avLst/>
          </a:prstGeom>
          <a:solidFill>
            <a:srgbClr val="735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3017520" y="2983230"/>
            <a:ext cx="34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5CFF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735C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68" name="Google Shape;68;p14"/>
          <p:cNvSpPr txBox="1"/>
          <p:nvPr/>
        </p:nvSpPr>
        <p:spPr>
          <a:xfrm>
            <a:off x="3017520" y="3257550"/>
            <a:ext cx="20574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13"/>
              <a:buFont typeface="Calibri"/>
              <a:buNone/>
            </a:pPr>
            <a:r>
              <a:rPr b="1" i="0" lang="en" sz="1013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Generate defects</a:t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2880360" y="3806190"/>
            <a:ext cx="2263200" cy="8709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2880360" y="3806190"/>
            <a:ext cx="34200" cy="870900"/>
          </a:xfrm>
          <a:prstGeom prst="rect">
            <a:avLst/>
          </a:prstGeom>
          <a:solidFill>
            <a:srgbClr val="735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3017520" y="3909060"/>
            <a:ext cx="34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5CFF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735C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3017520" y="4183380"/>
            <a:ext cx="20574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13"/>
              <a:buFont typeface="Calibri"/>
              <a:buNone/>
            </a:pPr>
            <a:r>
              <a:rPr b="1" i="0" lang="en" sz="1013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Train &amp; verify</a:t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5280660" y="1954530"/>
            <a:ext cx="1680300" cy="13236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026.png" id="74" name="Google Shape;7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8092" y="2159199"/>
            <a:ext cx="1625344" cy="91425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/>
          <p:nvPr/>
        </p:nvSpPr>
        <p:spPr>
          <a:xfrm>
            <a:off x="7015734" y="1954530"/>
            <a:ext cx="1680300" cy="13236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028.png" id="76" name="Google Shape;7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3166" y="2159199"/>
            <a:ext cx="1625344" cy="91425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4"/>
          <p:cNvSpPr/>
          <p:nvPr/>
        </p:nvSpPr>
        <p:spPr>
          <a:xfrm>
            <a:off x="5280660" y="3332988"/>
            <a:ext cx="1680300" cy="13236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027.png" id="78" name="Google Shape;7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8092" y="3537657"/>
            <a:ext cx="1625344" cy="91425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/>
          <p:nvPr/>
        </p:nvSpPr>
        <p:spPr>
          <a:xfrm>
            <a:off x="7015734" y="3324655"/>
            <a:ext cx="1680300" cy="13236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046.png" id="80" name="Google Shape;8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43166" y="3520990"/>
            <a:ext cx="1625344" cy="930922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/>
          <p:cNvSpPr txBox="1"/>
          <p:nvPr/>
        </p:nvSpPr>
        <p:spPr>
          <a:xfrm>
            <a:off x="5486400" y="4951476"/>
            <a:ext cx="32919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63"/>
              <a:buFont typeface="Calibri"/>
              <a:buNone/>
            </a:pPr>
            <a:r>
              <a:rPr b="0" i="0" lang="en" sz="863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09  /  15</a:t>
            </a:r>
            <a:endParaRPr/>
          </a:p>
        </p:txBody>
      </p:sp>
      <p:sp>
        <p:nvSpPr>
          <p:cNvPr id="82" name="Google Shape;82;p14"/>
          <p:cNvSpPr/>
          <p:nvPr/>
        </p:nvSpPr>
        <p:spPr>
          <a:xfrm>
            <a:off x="5893594" y="2228850"/>
            <a:ext cx="111900" cy="121500"/>
          </a:xfrm>
          <a:prstGeom prst="rect">
            <a:avLst/>
          </a:prstGeom>
          <a:noFill/>
          <a:ln cap="flat" cmpd="sng" w="38100">
            <a:solidFill>
              <a:srgbClr val="5F49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7743921" y="2655453"/>
            <a:ext cx="111900" cy="121500"/>
          </a:xfrm>
          <a:prstGeom prst="rect">
            <a:avLst/>
          </a:prstGeom>
          <a:noFill/>
          <a:ln cap="flat" cmpd="sng" w="38100">
            <a:solidFill>
              <a:srgbClr val="5F49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5667118" y="3695497"/>
            <a:ext cx="143700" cy="125400"/>
          </a:xfrm>
          <a:prstGeom prst="rect">
            <a:avLst/>
          </a:prstGeom>
          <a:noFill/>
          <a:ln cap="flat" cmpd="sng" w="38100">
            <a:solidFill>
              <a:srgbClr val="5F49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7356595" y="3904944"/>
            <a:ext cx="143700" cy="125400"/>
          </a:xfrm>
          <a:prstGeom prst="rect">
            <a:avLst/>
          </a:prstGeom>
          <a:noFill/>
          <a:ln cap="flat" cmpd="sng" w="38100">
            <a:solidFill>
              <a:srgbClr val="5F49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6" name="Google Shape;8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55280" y="240030"/>
            <a:ext cx="960122" cy="203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