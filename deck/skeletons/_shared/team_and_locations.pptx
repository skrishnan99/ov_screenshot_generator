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5d4367d8d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f5d4367d8d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2469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42900" y="685800"/>
            <a:ext cx="19203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&amp;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Locations.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42900" y="2194560"/>
            <a:ext cx="1920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2A0FF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A2A0FF"/>
                </a:solidFill>
                <a:latin typeface="Calibri"/>
                <a:ea typeface="Calibri"/>
                <a:cs typeface="Calibri"/>
                <a:sym typeface="Calibri"/>
              </a:rPr>
              <a:t>(844) 799-7044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2A0FF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A2A0FF"/>
                </a:solidFill>
                <a:latin typeface="Calibri"/>
                <a:ea typeface="Calibri"/>
                <a:cs typeface="Calibri"/>
                <a:sym typeface="Calibri"/>
              </a:rPr>
              <a:t>1700 Montgomery St, Ste 221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2A0FF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A2A0FF"/>
                </a:solidFill>
                <a:latin typeface="Calibri"/>
                <a:ea typeface="Calibri"/>
                <a:cs typeface="Calibri"/>
                <a:sym typeface="Calibri"/>
              </a:rPr>
              <a:t>San Francisco, CA 94111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2A0FF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A2A0FF"/>
                </a:solidFill>
                <a:latin typeface="Calibri"/>
                <a:ea typeface="Calibri"/>
                <a:cs typeface="Calibri"/>
                <a:sym typeface="Calibri"/>
              </a:rPr>
              <a:t>United States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342900" y="3497581"/>
            <a:ext cx="1920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2A0FF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A2A0FF"/>
                </a:solidFill>
                <a:latin typeface="Calibri"/>
                <a:ea typeface="Calibri"/>
                <a:cs typeface="Calibri"/>
                <a:sym typeface="Calibri"/>
              </a:rPr>
              <a:t>HQ in San Francisco, CA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2743200" y="480060"/>
            <a:ext cx="1714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Remote personnel — Worldwide</a:t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2743200" y="994411"/>
            <a:ext cx="144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35C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735CFF"/>
                </a:solidFill>
                <a:latin typeface="Calibri"/>
                <a:ea typeface="Calibri"/>
                <a:cs typeface="Calibri"/>
                <a:sym typeface="Calibri"/>
              </a:rPr>
              <a:t>United States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2743200" y="1303020"/>
            <a:ext cx="1440300" cy="15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San Francisco, CA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Columbus, OH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Nashville, TN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Seattle, WA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Iowa City, IA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Atlanta, GA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Charlotte, NC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Detroit, MI</a:t>
            </a:r>
            <a:endParaRPr b="0" i="0" sz="825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Austin, TX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4251960" y="994411"/>
            <a:ext cx="144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35C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735CFF"/>
                </a:solidFill>
                <a:latin typeface="Calibri"/>
                <a:ea typeface="Calibri"/>
                <a:cs typeface="Calibri"/>
                <a:sym typeface="Calibri"/>
              </a:rPr>
              <a:t>Americas</a:t>
            </a: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4251960" y="1303020"/>
            <a:ext cx="1440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CDMX, MX</a:t>
            </a:r>
            <a:endParaRPr b="0" i="0" sz="825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Guadalajara, MX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Hermosillo, MX</a:t>
            </a:r>
            <a:endParaRPr b="0" i="0" sz="825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Curitiba, Brazil</a:t>
            </a: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5760720" y="994411"/>
            <a:ext cx="144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35C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735CFF"/>
                </a:solidFill>
                <a:latin typeface="Calibri"/>
                <a:ea typeface="Calibri"/>
                <a:cs typeface="Calibri"/>
                <a:sym typeface="Calibri"/>
              </a:rPr>
              <a:t>Asia</a:t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5760720" y="1303020"/>
            <a:ext cx="14403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Taipei, TW</a:t>
            </a:r>
            <a:endParaRPr b="0" i="0" sz="825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Shanghai, CH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Nantong, CH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Shenzhen, CH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Haiyan, CH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Ha Noi, VN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Bengaluru, IN</a:t>
            </a:r>
            <a:endParaRPr b="0" i="0" sz="825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7269480" y="994411"/>
            <a:ext cx="144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35C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735CFF"/>
                </a:solidFill>
                <a:latin typeface="Calibri"/>
                <a:ea typeface="Calibri"/>
                <a:cs typeface="Calibri"/>
                <a:sym typeface="Calibri"/>
              </a:rPr>
              <a:t>Europe</a:t>
            </a:r>
            <a:endParaRPr/>
          </a:p>
        </p:txBody>
      </p:sp>
      <p:sp>
        <p:nvSpPr>
          <p:cNvPr id="66" name="Google Shape;66;p13"/>
          <p:cNvSpPr txBox="1"/>
          <p:nvPr/>
        </p:nvSpPr>
        <p:spPr>
          <a:xfrm>
            <a:off x="7269480" y="1303021"/>
            <a:ext cx="1440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25"/>
              <a:buFont typeface="Calibri"/>
              <a:buNone/>
            </a:pPr>
            <a:r>
              <a:rPr b="0" i="0" lang="en" sz="825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Zurich, Switzerland</a:t>
            </a:r>
            <a:endParaRPr/>
          </a:p>
        </p:txBody>
      </p:sp>
      <p:pic>
        <p:nvPicPr>
          <p:cNvPr descr="a151_1292cbef536f.png" id="67" name="Google Shape;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2478024"/>
            <a:ext cx="6172201" cy="295952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 txBox="1"/>
          <p:nvPr/>
        </p:nvSpPr>
        <p:spPr>
          <a:xfrm>
            <a:off x="8229600" y="4903470"/>
            <a:ext cx="6858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14  /  15</a:t>
            </a:r>
            <a:endParaRPr/>
          </a:p>
        </p:txBody>
      </p:sp>
      <p:pic>
        <p:nvPicPr>
          <p:cNvPr descr="image.png" id="69" name="Google Shape;6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5280" y="240030"/>
            <a:ext cx="960122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