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Montserrat"/>
      <p:regular r:id="rId12"/>
      <p:bold r:id="rId13"/>
      <p:italic r:id="rId14"/>
      <p:boldItalic r:id="rId15"/>
    </p:embeddedFont>
    <p:embeddedFont>
      <p:font typeface="Montserrat Medium"/>
      <p:regular r:id="rId16"/>
      <p:bold r:id="rId17"/>
      <p:italic r:id="rId18"/>
      <p:boldItalic r:id="rId19"/>
    </p:embeddedFont>
    <p:embeddedFont>
      <p:font typeface="Work Sans"/>
      <p:regular r:id="rId20"/>
      <p:bold r:id="rId21"/>
      <p:italic r:id="rId22"/>
      <p:boldItalic r:id="rId23"/>
    </p:embeddedFont>
    <p:embeddedFont>
      <p:font typeface="Host Grotesk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regular.fntdata"/><Relationship Id="rId22" Type="http://schemas.openxmlformats.org/officeDocument/2006/relationships/font" Target="fonts/WorkSans-italic.fntdata"/><Relationship Id="rId21" Type="http://schemas.openxmlformats.org/officeDocument/2006/relationships/font" Target="fonts/WorkSans-bold.fntdata"/><Relationship Id="rId24" Type="http://schemas.openxmlformats.org/officeDocument/2006/relationships/font" Target="fonts/HostGroteskSemiBold-regular.fntdata"/><Relationship Id="rId23" Type="http://schemas.openxmlformats.org/officeDocument/2006/relationships/font" Target="fonts/WorkSans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6" Type="http://schemas.openxmlformats.org/officeDocument/2006/relationships/font" Target="fonts/HostGroteskSemiBold-italic.fntdata"/><Relationship Id="rId25" Type="http://schemas.openxmlformats.org/officeDocument/2006/relationships/font" Target="fonts/HostGroteskSemiBold-bold.fntdata"/><Relationship Id="rId27" Type="http://schemas.openxmlformats.org/officeDocument/2006/relationships/font" Target="fonts/HostGrotesk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MontserratSemiBold-regular.fnt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MontserratMedium-bold.fntdata"/><Relationship Id="rId16" Type="http://schemas.openxmlformats.org/officeDocument/2006/relationships/font" Target="fonts/MontserratMedium-regular.fntdata"/><Relationship Id="rId19" Type="http://schemas.openxmlformats.org/officeDocument/2006/relationships/font" Target="fonts/MontserratMedium-boldItalic.fntdata"/><Relationship Id="rId18" Type="http://schemas.openxmlformats.org/officeDocument/2006/relationships/font" Target="fonts/Montserrat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5d4367d8d_4_2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5d4367d8d_4_2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59" name="Google Shape;59;p1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9" name="Google Shape;69;p16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6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80" name="Google Shape;80;p16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6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6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281924" y="276249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2598474" y="3493075"/>
            <a:ext cx="59853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sz="4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13" name="Google Shape;113;p20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0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0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124" name="Google Shape;124;p20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10800000">
            <a:off x="281925" y="276250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821003" y="3923105"/>
            <a:ext cx="5859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38" name="Google Shape;138;p21"/>
          <p:cNvCxnSpPr/>
          <p:nvPr/>
        </p:nvCxnSpPr>
        <p:spPr>
          <a:xfrm>
            <a:off x="550875" y="792575"/>
            <a:ext cx="8052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550875" y="452177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type="title"/>
          </p:nvPr>
        </p:nvSpPr>
        <p:spPr>
          <a:xfrm>
            <a:off x="795524" y="2244455"/>
            <a:ext cx="61218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6;p2" id="141" name="Google Shape;1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874" y="466645"/>
            <a:ext cx="1112102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42;p5" id="146" name="Google Shape;146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3"/>
          <p:cNvCxnSpPr/>
          <p:nvPr/>
        </p:nvCxnSpPr>
        <p:spPr>
          <a:xfrm rot="10800000">
            <a:off x="-18925" y="3535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 rot="10800000">
            <a:off x="-18925" y="840643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-18925" y="13277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 rot="10800000">
            <a:off x="-18925" y="1814717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rot="10800000">
            <a:off x="-18925" y="230178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23"/>
          <p:cNvGrpSpPr/>
          <p:nvPr/>
        </p:nvGrpSpPr>
        <p:grpSpPr>
          <a:xfrm>
            <a:off x="-3524" y="-102"/>
            <a:ext cx="9156703" cy="5143500"/>
            <a:chOff x="1" y="0"/>
            <a:chExt cx="9156703" cy="5143500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240957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2891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3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337340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>
              <a:off x="385531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3"/>
            <p:cNvCxnSpPr/>
            <p:nvPr/>
          </p:nvCxnSpPr>
          <p:spPr>
            <a:xfrm>
              <a:off x="433723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3"/>
            <p:cNvCxnSpPr/>
            <p:nvPr/>
          </p:nvCxnSpPr>
          <p:spPr>
            <a:xfrm>
              <a:off x="481914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3"/>
            <p:cNvCxnSpPr/>
            <p:nvPr/>
          </p:nvCxnSpPr>
          <p:spPr>
            <a:xfrm>
              <a:off x="530106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3"/>
            <p:cNvCxnSpPr/>
            <p:nvPr/>
          </p:nvCxnSpPr>
          <p:spPr>
            <a:xfrm>
              <a:off x="578297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3"/>
            <p:cNvCxnSpPr/>
            <p:nvPr/>
          </p:nvCxnSpPr>
          <p:spPr>
            <a:xfrm>
              <a:off x="626489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3"/>
            <p:cNvCxnSpPr/>
            <p:nvPr/>
          </p:nvCxnSpPr>
          <p:spPr>
            <a:xfrm>
              <a:off x="674680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722880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>
              <a:off x="771071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3"/>
            <p:cNvCxnSpPr/>
            <p:nvPr/>
          </p:nvCxnSpPr>
          <p:spPr>
            <a:xfrm>
              <a:off x="819272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23"/>
            <p:cNvGrpSpPr/>
            <p:nvPr/>
          </p:nvGrpSpPr>
          <p:grpSpPr>
            <a:xfrm>
              <a:off x="8674709" y="0"/>
              <a:ext cx="481995" cy="5143500"/>
              <a:chOff x="1" y="0"/>
              <a:chExt cx="481995" cy="5143500"/>
            </a:xfrm>
          </p:grpSpPr>
          <p:cxnSp>
            <p:nvCxnSpPr>
              <p:cNvPr id="174" name="Google Shape;174;p23"/>
              <p:cNvCxnSpPr/>
              <p:nvPr/>
            </p:nvCxnSpPr>
            <p:spPr>
              <a:xfrm>
                <a:off x="1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3"/>
              <p:cNvCxnSpPr/>
              <p:nvPr/>
            </p:nvCxnSpPr>
            <p:spPr>
              <a:xfrm>
                <a:off x="481996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6" name="Google Shape;176;p23"/>
          <p:cNvCxnSpPr/>
          <p:nvPr/>
        </p:nvCxnSpPr>
        <p:spPr>
          <a:xfrm rot="10800000">
            <a:off x="-18925" y="278884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 rot="10800000">
            <a:off x="-18925" y="32759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 rot="10800000">
            <a:off x="-18925" y="3762915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-18925" y="42499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 rot="10800000">
            <a:off x="-18925" y="4736964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 txBox="1"/>
          <p:nvPr>
            <p:ph type="title"/>
          </p:nvPr>
        </p:nvSpPr>
        <p:spPr>
          <a:xfrm>
            <a:off x="1437725" y="1326450"/>
            <a:ext cx="6258900" cy="1948200"/>
          </a:xfrm>
          <a:prstGeom prst="rect">
            <a:avLst/>
          </a:prstGeom>
          <a:solidFill>
            <a:srgbClr val="49369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4539824" y="1730491"/>
            <a:ext cx="4325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277499" y="1059675"/>
            <a:ext cx="4294500" cy="28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15;p9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277499" y="734599"/>
            <a:ext cx="1383900" cy="16602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/>
          <p:nvPr>
            <p:ph idx="3" type="pic"/>
          </p:nvPr>
        </p:nvSpPr>
        <p:spPr>
          <a:xfrm>
            <a:off x="277499" y="2521174"/>
            <a:ext cx="1383900" cy="18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5"/>
          <p:cNvSpPr/>
          <p:nvPr>
            <p:ph idx="4" type="pic"/>
          </p:nvPr>
        </p:nvSpPr>
        <p:spPr>
          <a:xfrm>
            <a:off x="1867633" y="850900"/>
            <a:ext cx="2589300" cy="34332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5778174" y="1800749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25;p10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4572000" y="2571750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277499" y="2571741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32;p11" id="200" name="Google Shape;200;p26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277499" y="416249"/>
            <a:ext cx="36309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4839675" y="8404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■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40;p12" id="205" name="Google Shape;205;p2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610399"/>
            <a:ext cx="192001" cy="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4839675" y="18458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4;p12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16158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4839675" y="28512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7;p12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26212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4" type="body"/>
          </p:nvPr>
        </p:nvSpPr>
        <p:spPr>
          <a:xfrm>
            <a:off x="4839675" y="3864850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50;p12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3634799"/>
            <a:ext cx="192001" cy="19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>
            <a:off x="4278051" y="287400"/>
            <a:ext cx="0" cy="457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 txBox="1"/>
          <p:nvPr>
            <p:ph idx="5" type="body"/>
          </p:nvPr>
        </p:nvSpPr>
        <p:spPr>
          <a:xfrm>
            <a:off x="277499" y="1061865"/>
            <a:ext cx="34287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277499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545225" y="3722999"/>
            <a:ext cx="3550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545225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1" name="Google Shape;221;p28"/>
          <p:cNvSpPr txBox="1"/>
          <p:nvPr/>
        </p:nvSpPr>
        <p:spPr>
          <a:xfrm>
            <a:off x="4309293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22" name="Google Shape;222;p28"/>
          <p:cNvSpPr txBox="1"/>
          <p:nvPr>
            <p:ph idx="3" type="body"/>
          </p:nvPr>
        </p:nvSpPr>
        <p:spPr>
          <a:xfrm>
            <a:off x="4577017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4;p13" id="223" name="Google Shape;223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ontserrat SemiBold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27" name="Google Shape;227;p29"/>
          <p:cNvSpPr/>
          <p:nvPr>
            <p:ph idx="2" type="pic"/>
          </p:nvPr>
        </p:nvSpPr>
        <p:spPr>
          <a:xfrm>
            <a:off x="4572000" y="526825"/>
            <a:ext cx="4026900" cy="43332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9;p14" id="229" name="Google Shape;229;p29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277499" y="3324652"/>
            <a:ext cx="17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3" name="Google Shape;233;p30"/>
          <p:cNvSpPr/>
          <p:nvPr>
            <p:ph idx="2" type="pic"/>
          </p:nvPr>
        </p:nvSpPr>
        <p:spPr>
          <a:xfrm>
            <a:off x="289099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2167688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4046275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5912713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0"/>
          <p:cNvSpPr txBox="1"/>
          <p:nvPr>
            <p:ph idx="6" type="body"/>
          </p:nvPr>
        </p:nvSpPr>
        <p:spPr>
          <a:xfrm>
            <a:off x="277499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7" type="body"/>
          </p:nvPr>
        </p:nvSpPr>
        <p:spPr>
          <a:xfrm>
            <a:off x="2163638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8" type="body"/>
          </p:nvPr>
        </p:nvSpPr>
        <p:spPr>
          <a:xfrm>
            <a:off x="4049776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9" type="body"/>
          </p:nvPr>
        </p:nvSpPr>
        <p:spPr>
          <a:xfrm>
            <a:off x="5900113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87;p15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>
            <p:ph idx="2" type="pic"/>
          </p:nvPr>
        </p:nvSpPr>
        <p:spPr>
          <a:xfrm>
            <a:off x="277499" y="1170424"/>
            <a:ext cx="8589000" cy="36897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163549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457200" y="408397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51" name="Google Shape;251;p32"/>
          <p:cNvSpPr/>
          <p:nvPr/>
        </p:nvSpPr>
        <p:spPr>
          <a:xfrm>
            <a:off x="7583124" y="4744075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457200" y="927799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53" name="Google Shape;253;p32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6" y="4819961"/>
            <a:ext cx="852438" cy="19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457200" y="1652299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8826138" y="4853987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163550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457200" y="408396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59" name="Google Shape;259;p33"/>
          <p:cNvSpPr/>
          <p:nvPr/>
        </p:nvSpPr>
        <p:spPr>
          <a:xfrm>
            <a:off x="7583124" y="4744074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457200" y="927800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61" name="Google Shape;261;p33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5" y="4819962"/>
            <a:ext cx="852448" cy="19199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idx="2" type="body"/>
          </p:nvPr>
        </p:nvSpPr>
        <p:spPr>
          <a:xfrm>
            <a:off x="457200" y="1652300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8826138" y="4853987"/>
            <a:ext cx="126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8755643" y="4749851"/>
            <a:ext cx="34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2.xml"/><Relationship Id="rId6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606100" y="445075"/>
            <a:ext cx="59853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</a:pPr>
            <a:r>
              <a:rPr b="1" lang="en"/>
              <a:t>Results</a:t>
            </a:r>
            <a:endParaRPr/>
          </a:p>
        </p:txBody>
      </p:sp>
      <p:sp>
        <p:nvSpPr>
          <p:cNvPr id="271" name="Google Shape;271;p35"/>
          <p:cNvSpPr txBox="1"/>
          <p:nvPr/>
        </p:nvSpPr>
        <p:spPr>
          <a:xfrm>
            <a:off x="688706" y="2508449"/>
            <a:ext cx="20889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SemiBold"/>
              <a:buNone/>
            </a:pPr>
            <a:r>
              <a:rPr b="1" lang="en" sz="5225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{{mean_iou}}</a:t>
            </a:r>
            <a:endParaRPr b="1" sz="5225">
              <a:solidFill>
                <a:srgbClr val="A896F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688706" y="3440305"/>
            <a:ext cx="2468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1745"/>
              <a:buFont typeface="Montserrat SemiBold"/>
              <a:buNone/>
            </a:pPr>
            <a:r>
              <a:rPr b="1" lang="en" sz="1746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Mean IoU</a:t>
            </a:r>
            <a:endParaRPr b="1" i="0" sz="1746" u="none" cap="none" strike="noStrike">
              <a:solidFill>
                <a:srgbClr val="A896F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3528419" y="2516916"/>
            <a:ext cx="20889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Montserrat SemiBold"/>
              <a:buNone/>
            </a:pPr>
            <a:r>
              <a:rPr b="1" lang="en" sz="5225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{{train_imgs}}</a:t>
            </a:r>
            <a:endParaRPr b="0" i="0" sz="1400" u="none" cap="none" strike="noStrike">
              <a:solidFill>
                <a:srgbClr val="A896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3528419" y="3440305"/>
            <a:ext cx="2468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1745"/>
              <a:buFont typeface="Montserrat SemiBold"/>
              <a:buNone/>
            </a:pPr>
            <a:r>
              <a:rPr b="1" lang="en" sz="1746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Training Images</a:t>
            </a:r>
            <a:endParaRPr/>
          </a:p>
        </p:txBody>
      </p:sp>
      <p:sp>
        <p:nvSpPr>
          <p:cNvPr id="275" name="Google Shape;275;p35"/>
          <p:cNvSpPr txBox="1"/>
          <p:nvPr/>
        </p:nvSpPr>
        <p:spPr>
          <a:xfrm>
            <a:off x="6368131" y="2516916"/>
            <a:ext cx="20889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fontScale="4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Montserrat SemiBold"/>
              <a:buNone/>
            </a:pPr>
            <a:r>
              <a:rPr b="1" lang="en" sz="5225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{{deployment_time}}</a:t>
            </a:r>
            <a:endParaRPr b="1" i="0" sz="5225" u="none" cap="none" strike="noStrike">
              <a:solidFill>
                <a:schemeClr val="accent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6368131" y="3440305"/>
            <a:ext cx="2468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1745"/>
              <a:buFont typeface="Montserrat SemiBold"/>
              <a:buNone/>
            </a:pPr>
            <a:r>
              <a:rPr b="1" lang="en" sz="1746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Deployment Time</a:t>
            </a:r>
            <a:endParaRPr/>
          </a:p>
        </p:txBody>
      </p:sp>
      <p:pic>
        <p:nvPicPr>
          <p:cNvPr descr="Logo-white.pngGoogle Shape;16;p2" id="277" name="Google Shape;2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141" y="415845"/>
            <a:ext cx="1112101" cy="20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