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Montserrat SemiBold"/>
      <p:regular r:id="rId7"/>
      <p:bold r:id="rId8"/>
      <p:italic r:id="rId9"/>
      <p:boldItalic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ontserratSemiBold-boldItalic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italic.fntdata"/><Relationship Id="rId14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SemiBold-regular.fntdata"/><Relationship Id="rId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d4367d8d_0_30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5d4367d8d_0_3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0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-15394" y="-7606"/>
            <a:ext cx="5286300" cy="5158800"/>
            <a:chOff x="0" y="0"/>
            <a:chExt cx="5286300" cy="5158800"/>
          </a:xfrm>
        </p:grpSpPr>
        <p:sp>
          <p:nvSpPr>
            <p:cNvPr id="66" name="Google Shape;66;p15"/>
            <p:cNvSpPr/>
            <p:nvPr/>
          </p:nvSpPr>
          <p:spPr>
            <a:xfrm>
              <a:off x="0" y="0"/>
              <a:ext cx="5286300" cy="5158800"/>
            </a:xfrm>
            <a:prstGeom prst="rect">
              <a:avLst/>
            </a:prstGeom>
            <a:solidFill>
              <a:srgbClr val="493691"/>
            </a:solidFill>
            <a:ln cap="flat" cmpd="sng" w="9525">
              <a:solidFill>
                <a:srgbClr val="E0D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4776" y="2379390"/>
              <a:ext cx="5276700" cy="3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Montserrat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/>
            </a:p>
          </p:txBody>
        </p:sp>
      </p:grpSp>
      <p:sp>
        <p:nvSpPr>
          <p:cNvPr id="68" name="Google Shape;68;p15"/>
          <p:cNvSpPr txBox="1"/>
          <p:nvPr>
            <p:ph type="title"/>
          </p:nvPr>
        </p:nvSpPr>
        <p:spPr>
          <a:xfrm>
            <a:off x="277500" y="148734"/>
            <a:ext cx="48141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ontserrat SemiBold"/>
              <a:buNone/>
            </a:pPr>
            <a:r>
              <a:rPr lang="en" sz="2800">
                <a:solidFill>
                  <a:schemeClr val="accent2"/>
                </a:solidFill>
              </a:rPr>
              <a:t>5 factors make us unique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86549" y="1026922"/>
            <a:ext cx="3311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solidFill>
                  <a:schemeClr val="accent2"/>
                </a:solidFill>
              </a:rPr>
              <a:t>NVIDIA-Powered On-device training</a:t>
            </a:r>
            <a:endParaRPr/>
          </a:p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798649" y="1174319"/>
            <a:ext cx="4152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rmAutofit fontScale="6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"/>
              <a:buNone/>
            </a:pPr>
            <a:r>
              <a:rPr i="1" lang="en" sz="900"/>
              <a:t>Run </a:t>
            </a:r>
            <a:r>
              <a:rPr b="1" lang="en"/>
              <a:t>large AI models and retrain on the camera in minutes</a:t>
            </a:r>
            <a:r>
              <a:rPr i="1" lang="en" sz="900"/>
              <a:t>, to get unmatched accuracy and performance on subtle defects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890074" y="1845903"/>
            <a:ext cx="365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</a:pPr>
            <a:r>
              <a:rPr b="0" i="0" lang="en" sz="12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Data-first with massive onboard storage</a:t>
            </a:r>
            <a:endParaRPr/>
          </a:p>
        </p:txBody>
      </p:sp>
      <p:sp>
        <p:nvSpPr>
          <p:cNvPr id="72" name="Google Shape;72;p15"/>
          <p:cNvSpPr txBox="1"/>
          <p:nvPr>
            <p:ph idx="4" type="body"/>
          </p:nvPr>
        </p:nvSpPr>
        <p:spPr>
          <a:xfrm>
            <a:off x="798649" y="1994212"/>
            <a:ext cx="4072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"/>
              <a:buNone/>
            </a:pPr>
            <a:r>
              <a:rPr i="1" lang="en" sz="900"/>
              <a:t>Labeling and training using JPEG for faster results and </a:t>
            </a:r>
            <a:r>
              <a:rPr b="1" lang="en"/>
              <a:t>storage for weeks worth of production data</a:t>
            </a:r>
            <a:r>
              <a:rPr i="1" lang="en" sz="900"/>
              <a:t> (100k+ images)</a:t>
            </a:r>
            <a:endParaRPr/>
          </a:p>
        </p:txBody>
      </p:sp>
      <p:sp>
        <p:nvSpPr>
          <p:cNvPr id="73" name="Google Shape;73;p15"/>
          <p:cNvSpPr txBox="1"/>
          <p:nvPr>
            <p:ph idx="5" type="body"/>
          </p:nvPr>
        </p:nvSpPr>
        <p:spPr>
          <a:xfrm>
            <a:off x="798649" y="2814104"/>
            <a:ext cx="4072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Montserrat"/>
              <a:buNone/>
            </a:pPr>
            <a:r>
              <a:rPr i="1" lang="en" sz="900"/>
              <a:t>Access every camera instantly through a </a:t>
            </a:r>
            <a:r>
              <a:rPr b="1" lang="en"/>
              <a:t>simple browser – no installs, no license keys, and no dedicated PC</a:t>
            </a:r>
            <a:r>
              <a:rPr i="1" lang="en" sz="900"/>
              <a:t> required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890075" y="2664885"/>
            <a:ext cx="33048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</a:pPr>
            <a:r>
              <a:rPr b="0" i="0" lang="en" sz="12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Modern, browser-native tech stack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890075" y="4302847"/>
            <a:ext cx="421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</a:pPr>
            <a:r>
              <a:rPr b="0" i="0" lang="en" sz="12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Fully open automation platform (Node-Red + APIs)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98650" y="4453890"/>
            <a:ext cx="42057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Montserrat"/>
              <a:buNone/>
            </a:pPr>
            <a:r>
              <a:rPr b="0" i="1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Trigger, control, create dashboards, and </a:t>
            </a:r>
            <a:r>
              <a:rPr b="1" i="1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customize everything with APIs &amp; Node-RED</a:t>
            </a:r>
            <a:r>
              <a:rPr b="0" i="1" lang="en" sz="9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enabling PLC-level logic directly on the camera</a:t>
            </a:r>
            <a:endParaRPr/>
          </a:p>
        </p:txBody>
      </p:sp>
      <p:pic>
        <p:nvPicPr>
          <p:cNvPr descr="Google Shape;409;p26"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50" y="3477910"/>
            <a:ext cx="461575" cy="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10;p26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350" y="1026922"/>
            <a:ext cx="461575" cy="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11;p26"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350" y="4294895"/>
            <a:ext cx="461575" cy="46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5-10-30 at 5.24.02 PM.pngGoogle Shape;412;p26" id="80" name="Google Shape;80;p15"/>
          <p:cNvPicPr preferRelativeResize="0"/>
          <p:nvPr/>
        </p:nvPicPr>
        <p:blipFill rotWithShape="1">
          <a:blip r:embed="rId6">
            <a:alphaModFix/>
          </a:blip>
          <a:srcRect b="15695" l="11868" r="14053" t="13192"/>
          <a:stretch/>
        </p:blipFill>
        <p:spPr>
          <a:xfrm>
            <a:off x="5415350" y="176925"/>
            <a:ext cx="2459822" cy="1528875"/>
          </a:xfrm>
          <a:prstGeom prst="rect">
            <a:avLst/>
          </a:prstGeom>
          <a:noFill/>
          <a:ln cap="flat" cmpd="sng" w="9525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2700000" dist="38100">
              <a:srgbClr val="000000">
                <a:alpha val="50200"/>
              </a:srgbClr>
            </a:outerShdw>
          </a:effectLst>
        </p:spPr>
      </p:pic>
      <p:pic>
        <p:nvPicPr>
          <p:cNvPr descr="Screenshot 2025-11-07 at 11.39.23 AM.pngGoogle Shape;413;p26" id="81" name="Google Shape;81;p15"/>
          <p:cNvPicPr preferRelativeResize="0"/>
          <p:nvPr/>
        </p:nvPicPr>
        <p:blipFill rotWithShape="1">
          <a:blip r:embed="rId7">
            <a:alphaModFix/>
          </a:blip>
          <a:srcRect b="0" l="13808" r="0" t="0"/>
          <a:stretch/>
        </p:blipFill>
        <p:spPr>
          <a:xfrm>
            <a:off x="5697987" y="896213"/>
            <a:ext cx="2459822" cy="1567699"/>
          </a:xfrm>
          <a:prstGeom prst="rect">
            <a:avLst/>
          </a:prstGeom>
          <a:noFill/>
          <a:ln cap="flat" cmpd="sng" w="9525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2700000" dist="38100">
              <a:srgbClr val="000000">
                <a:alpha val="50200"/>
              </a:srgbClr>
            </a:outerShdw>
          </a:effectLst>
        </p:spPr>
      </p:pic>
      <p:pic>
        <p:nvPicPr>
          <p:cNvPr descr="Screenshot 2025-11-07 at 11.40.44 AM.pngGoogle Shape;414;p26" id="82" name="Google Shape;82;p15"/>
          <p:cNvPicPr preferRelativeResize="0"/>
          <p:nvPr/>
        </p:nvPicPr>
        <p:blipFill rotWithShape="1">
          <a:blip r:embed="rId8">
            <a:alphaModFix/>
          </a:blip>
          <a:srcRect b="0" l="13808" r="0" t="0"/>
          <a:stretch/>
        </p:blipFill>
        <p:spPr>
          <a:xfrm>
            <a:off x="5980624" y="1654328"/>
            <a:ext cx="2459822" cy="1611263"/>
          </a:xfrm>
          <a:prstGeom prst="rect">
            <a:avLst/>
          </a:prstGeom>
          <a:noFill/>
          <a:ln cap="flat" cmpd="sng" w="9525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2700000" dist="38100">
              <a:srgbClr val="000000">
                <a:alpha val="50200"/>
              </a:srgbClr>
            </a:outerShdw>
          </a:effectLst>
        </p:spPr>
      </p:pic>
      <p:pic>
        <p:nvPicPr>
          <p:cNvPr descr="Screenshot 2025-11-07 at 11.41.58 AM.pngGoogle Shape;415;p26" id="83" name="Google Shape;83;p15"/>
          <p:cNvPicPr preferRelativeResize="0"/>
          <p:nvPr/>
        </p:nvPicPr>
        <p:blipFill rotWithShape="1">
          <a:blip r:embed="rId9">
            <a:alphaModFix/>
          </a:blip>
          <a:srcRect b="0" l="13808" r="0" t="0"/>
          <a:stretch/>
        </p:blipFill>
        <p:spPr>
          <a:xfrm>
            <a:off x="6263261" y="2456004"/>
            <a:ext cx="2459822" cy="1670642"/>
          </a:xfrm>
          <a:prstGeom prst="rect">
            <a:avLst/>
          </a:prstGeom>
          <a:noFill/>
          <a:ln cap="flat" cmpd="sng" w="9525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2700000" dist="38100">
              <a:srgbClr val="000000">
                <a:alpha val="50200"/>
              </a:srgbClr>
            </a:outerShdw>
          </a:effectLst>
        </p:spPr>
      </p:pic>
      <p:pic>
        <p:nvPicPr>
          <p:cNvPr descr="nodered.pngGoogle Shape;416;p26" id="84" name="Google Shape;84;p15"/>
          <p:cNvPicPr preferRelativeResize="0"/>
          <p:nvPr/>
        </p:nvPicPr>
        <p:blipFill rotWithShape="1">
          <a:blip r:embed="rId10">
            <a:alphaModFix/>
          </a:blip>
          <a:srcRect b="0" l="13808" r="0" t="0"/>
          <a:stretch/>
        </p:blipFill>
        <p:spPr>
          <a:xfrm>
            <a:off x="6545899" y="3317061"/>
            <a:ext cx="2459816" cy="1611263"/>
          </a:xfrm>
          <a:prstGeom prst="rect">
            <a:avLst/>
          </a:prstGeom>
          <a:noFill/>
          <a:ln cap="flat" cmpd="sng" w="9525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dir="2700000" dist="38100">
              <a:srgbClr val="000000">
                <a:alpha val="50200"/>
              </a:srgbClr>
            </a:outerShdw>
          </a:effectLst>
        </p:spPr>
      </p:pic>
      <p:sp>
        <p:nvSpPr>
          <p:cNvPr id="85" name="Google Shape;85;p15"/>
          <p:cNvSpPr txBox="1"/>
          <p:nvPr/>
        </p:nvSpPr>
        <p:spPr>
          <a:xfrm>
            <a:off x="890075" y="3483866"/>
            <a:ext cx="421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</a:pPr>
            <a:r>
              <a:rPr b="0" i="0" lang="en" sz="12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Root-cause, discovery defects, &amp; continually improve</a:t>
            </a:r>
            <a:endParaRPr/>
          </a:p>
        </p:txBody>
      </p:sp>
      <p:sp>
        <p:nvSpPr>
          <p:cNvPr id="86" name="Google Shape;86;p15"/>
          <p:cNvSpPr txBox="1"/>
          <p:nvPr>
            <p:ph idx="6" type="body"/>
          </p:nvPr>
        </p:nvSpPr>
        <p:spPr>
          <a:xfrm>
            <a:off x="798649" y="3633997"/>
            <a:ext cx="4072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575" lIns="110575" spcFirstLastPara="1" rIns="110575" wrap="square" tIns="110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Montserrat"/>
              <a:buNone/>
            </a:pPr>
            <a:r>
              <a:rPr i="1" lang="en" sz="900"/>
              <a:t>Use our proprietary haystack tool to easily surface outliers &amp; new defect modes, and retrain models using real production data</a:t>
            </a:r>
            <a:endParaRPr/>
          </a:p>
        </p:txBody>
      </p:sp>
      <p:pic>
        <p:nvPicPr>
          <p:cNvPr descr="Google Shape;419;p26" id="87" name="Google Shape;8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3350" y="1843908"/>
            <a:ext cx="461589" cy="461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20;p26" id="88" name="Google Shape;88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3350" y="2660909"/>
            <a:ext cx="461589" cy="461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