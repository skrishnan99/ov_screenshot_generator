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1731764" y="-188713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3549253" y="1628776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406003" y="142876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541735" y="3305176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342900" y="1200151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3486150" y="1200151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342900" y="204787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342900" y="1076326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8" Type="http://schemas.openxmlformats.org/officeDocument/2006/relationships/image" Target="../media/image2.jpg"/><Relationship Id="rId9" Type="http://schemas.openxmlformats.org/officeDocument/2006/relationships/image" Target="../media/image3.jpg"/><Relationship Id="rId10" Type="http://schemas.openxmlformats.org/officeDocument/2006/relationships/image" Target="../media/image1.jpg"/><Relationship Id="rId11" Type="http://schemas.openxmlformats.org/officeDocument/2006/relationships/image" Target="../media/image1.png"/><Relationship Id="rId1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7"/>
          <p:cNvSpPr txBox="1"/>
          <p:nvPr/>
        </p:nvSpPr>
        <p:spPr>
          <a:xfrm>
            <a:off x="411480" y="720090"/>
            <a:ext cx="8229600" cy="4042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50"/>
              <a:buFont typeface="Calibri"/>
              <a:buNone/>
            </a:pPr>
            <a:r>
              <a:rPr b="1" i="0" lang="en" sz="255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Can't wait for the rare defect? Generate it.</a:t>
            </a:r>
            <a:endParaRPr/>
          </a:p>
        </p:txBody>
      </p:sp>
      <p:sp>
        <p:nvSpPr>
          <p:cNvPr id="448" name="Google Shape;448;p57"/>
          <p:cNvSpPr txBox="1"/>
          <p:nvPr/>
        </p:nvSpPr>
        <p:spPr>
          <a:xfrm>
            <a:off x="411480" y="1474470"/>
            <a:ext cx="8229600" cy="2069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25"/>
              <a:buFont typeface="Calibri"/>
              <a:buNone/>
            </a:pPr>
            <a:r>
              <a:rPr b="0" i="0" lang="en" sz="1125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Synthetic defects, guided by your real ones. A 12.4× faster path from new SKU to production-ready inspection.</a:t>
            </a:r>
            <a:endParaRPr/>
          </a:p>
        </p:txBody>
      </p:sp>
      <p:sp>
        <p:nvSpPr>
          <p:cNvPr id="449" name="Google Shape;449;p57"/>
          <p:cNvSpPr/>
          <p:nvPr/>
        </p:nvSpPr>
        <p:spPr>
          <a:xfrm>
            <a:off x="411480" y="1954530"/>
            <a:ext cx="2331720" cy="2743200"/>
          </a:xfrm>
          <a:prstGeom prst="rect">
            <a:avLst/>
          </a:prstGeom>
          <a:solidFill>
            <a:srgbClr val="532E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7"/>
          <p:cNvSpPr txBox="1"/>
          <p:nvPr/>
        </p:nvSpPr>
        <p:spPr>
          <a:xfrm>
            <a:off x="548640" y="2194560"/>
            <a:ext cx="2057400" cy="1099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600"/>
              <a:buFont typeface="Calibri"/>
              <a:buNone/>
            </a:pPr>
            <a:r>
              <a:rPr b="1" i="0" lang="en" sz="6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12.4×</a:t>
            </a:r>
            <a:endParaRPr/>
          </a:p>
        </p:txBody>
      </p:sp>
      <p:sp>
        <p:nvSpPr>
          <p:cNvPr id="451" name="Google Shape;451;p57"/>
          <p:cNvSpPr txBox="1"/>
          <p:nvPr/>
        </p:nvSpPr>
        <p:spPr>
          <a:xfrm>
            <a:off x="548640" y="3634740"/>
            <a:ext cx="2057400" cy="387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Calibri"/>
              <a:buNone/>
            </a:pPr>
            <a:r>
              <a:rPr b="0" i="1" lang="en" sz="97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 path from new SKU to production-ready inspection</a:t>
            </a:r>
            <a:endParaRPr/>
          </a:p>
        </p:txBody>
      </p:sp>
      <p:sp>
        <p:nvSpPr>
          <p:cNvPr id="452" name="Google Shape;452;p57"/>
          <p:cNvSpPr/>
          <p:nvPr/>
        </p:nvSpPr>
        <p:spPr>
          <a:xfrm>
            <a:off x="2880360" y="1954530"/>
            <a:ext cx="2263140" cy="870966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57"/>
          <p:cNvSpPr/>
          <p:nvPr/>
        </p:nvSpPr>
        <p:spPr>
          <a:xfrm>
            <a:off x="2880360" y="1954530"/>
            <a:ext cx="34290" cy="870966"/>
          </a:xfrm>
          <a:prstGeom prst="rect">
            <a:avLst/>
          </a:prstGeom>
          <a:solidFill>
            <a:srgbClr val="735C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57"/>
          <p:cNvSpPr txBox="1"/>
          <p:nvPr/>
        </p:nvSpPr>
        <p:spPr>
          <a:xfrm>
            <a:off x="3017520" y="2057400"/>
            <a:ext cx="342900" cy="224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350"/>
              <a:buFont typeface="Calibri"/>
              <a:buNone/>
            </a:pPr>
            <a:r>
              <a:rPr b="1" i="0" lang="en" sz="135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455" name="Google Shape;455;p57"/>
          <p:cNvSpPr txBox="1"/>
          <p:nvPr/>
        </p:nvSpPr>
        <p:spPr>
          <a:xfrm>
            <a:off x="3017520" y="2331720"/>
            <a:ext cx="2057400" cy="168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13"/>
              <a:buFont typeface="Calibri"/>
              <a:buNone/>
            </a:pPr>
            <a:r>
              <a:rPr b="1" i="0" lang="en" sz="101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Capture good parts</a:t>
            </a:r>
            <a:endParaRPr/>
          </a:p>
        </p:txBody>
      </p:sp>
      <p:sp>
        <p:nvSpPr>
          <p:cNvPr id="456" name="Google Shape;456;p57"/>
          <p:cNvSpPr/>
          <p:nvPr/>
        </p:nvSpPr>
        <p:spPr>
          <a:xfrm>
            <a:off x="2880360" y="2880360"/>
            <a:ext cx="2263140" cy="870966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57"/>
          <p:cNvSpPr/>
          <p:nvPr/>
        </p:nvSpPr>
        <p:spPr>
          <a:xfrm>
            <a:off x="2880360" y="2880360"/>
            <a:ext cx="34290" cy="870966"/>
          </a:xfrm>
          <a:prstGeom prst="rect">
            <a:avLst/>
          </a:prstGeom>
          <a:solidFill>
            <a:srgbClr val="735C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57"/>
          <p:cNvSpPr txBox="1"/>
          <p:nvPr/>
        </p:nvSpPr>
        <p:spPr>
          <a:xfrm>
            <a:off x="3017520" y="2983230"/>
            <a:ext cx="342900" cy="224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350"/>
              <a:buFont typeface="Calibri"/>
              <a:buNone/>
            </a:pPr>
            <a:r>
              <a:rPr b="1" i="0" lang="en" sz="135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459" name="Google Shape;459;p57"/>
          <p:cNvSpPr txBox="1"/>
          <p:nvPr/>
        </p:nvSpPr>
        <p:spPr>
          <a:xfrm>
            <a:off x="3017520" y="3257550"/>
            <a:ext cx="2057400" cy="168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13"/>
              <a:buFont typeface="Calibri"/>
              <a:buNone/>
            </a:pPr>
            <a:r>
              <a:rPr b="1" i="0" lang="en" sz="101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Generate defects</a:t>
            </a:r>
            <a:endParaRPr/>
          </a:p>
        </p:txBody>
      </p:sp>
      <p:sp>
        <p:nvSpPr>
          <p:cNvPr id="460" name="Google Shape;460;p57"/>
          <p:cNvSpPr/>
          <p:nvPr/>
        </p:nvSpPr>
        <p:spPr>
          <a:xfrm>
            <a:off x="2880360" y="3806190"/>
            <a:ext cx="2263140" cy="870966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57"/>
          <p:cNvSpPr/>
          <p:nvPr/>
        </p:nvSpPr>
        <p:spPr>
          <a:xfrm>
            <a:off x="2880360" y="3806190"/>
            <a:ext cx="34290" cy="870966"/>
          </a:xfrm>
          <a:prstGeom prst="rect">
            <a:avLst/>
          </a:prstGeom>
          <a:solidFill>
            <a:srgbClr val="735C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57"/>
          <p:cNvSpPr txBox="1"/>
          <p:nvPr/>
        </p:nvSpPr>
        <p:spPr>
          <a:xfrm>
            <a:off x="3017520" y="3909060"/>
            <a:ext cx="342900" cy="224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350"/>
              <a:buFont typeface="Calibri"/>
              <a:buNone/>
            </a:pPr>
            <a:r>
              <a:rPr b="1" i="0" lang="en" sz="135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463" name="Google Shape;463;p57"/>
          <p:cNvSpPr txBox="1"/>
          <p:nvPr/>
        </p:nvSpPr>
        <p:spPr>
          <a:xfrm>
            <a:off x="3017520" y="4183380"/>
            <a:ext cx="2057400" cy="168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13"/>
              <a:buFont typeface="Calibri"/>
              <a:buNone/>
            </a:pPr>
            <a:r>
              <a:rPr b="1" i="0" lang="en" sz="101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Train &amp; verify</a:t>
            </a:r>
            <a:endParaRPr/>
          </a:p>
        </p:txBody>
      </p:sp>
      <p:sp>
        <p:nvSpPr>
          <p:cNvPr id="464" name="Google Shape;464;p57"/>
          <p:cNvSpPr/>
          <p:nvPr/>
        </p:nvSpPr>
        <p:spPr>
          <a:xfrm>
            <a:off x="5280660" y="1954530"/>
            <a:ext cx="1680210" cy="1323594"/>
          </a:xfrm>
          <a:prstGeom prst="rect">
            <a:avLst/>
          </a:prstGeom>
          <a:solidFill>
            <a:srgbClr val="F5F5F7"/>
          </a:solidFill>
          <a:ln cap="flat" cmpd="sng" w="9525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26.png" id="465" name="Google Shape;465;p5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8092" y="2159199"/>
            <a:ext cx="1625346" cy="914257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57"/>
          <p:cNvSpPr/>
          <p:nvPr/>
        </p:nvSpPr>
        <p:spPr>
          <a:xfrm>
            <a:off x="7015734" y="1954530"/>
            <a:ext cx="1680210" cy="1323594"/>
          </a:xfrm>
          <a:prstGeom prst="rect">
            <a:avLst/>
          </a:prstGeom>
          <a:solidFill>
            <a:srgbClr val="F5F5F7"/>
          </a:solidFill>
          <a:ln cap="flat" cmpd="sng" w="9525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28.png" id="467" name="Google Shape;467;p5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043166" y="2159199"/>
            <a:ext cx="1625346" cy="914257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57"/>
          <p:cNvSpPr/>
          <p:nvPr/>
        </p:nvSpPr>
        <p:spPr>
          <a:xfrm>
            <a:off x="5280660" y="3332988"/>
            <a:ext cx="1680210" cy="1323594"/>
          </a:xfrm>
          <a:prstGeom prst="rect">
            <a:avLst/>
          </a:prstGeom>
          <a:solidFill>
            <a:srgbClr val="F5F5F7"/>
          </a:solidFill>
          <a:ln cap="flat" cmpd="sng" w="9525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27.png" id="469" name="Google Shape;469;p5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08092" y="3537657"/>
            <a:ext cx="1625346" cy="914257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57"/>
          <p:cNvSpPr/>
          <p:nvPr/>
        </p:nvSpPr>
        <p:spPr>
          <a:xfrm>
            <a:off x="7015734" y="3324655"/>
            <a:ext cx="1680210" cy="1323594"/>
          </a:xfrm>
          <a:prstGeom prst="rect">
            <a:avLst/>
          </a:prstGeom>
          <a:solidFill>
            <a:srgbClr val="F5F5F7"/>
          </a:solidFill>
          <a:ln cap="flat" cmpd="sng" w="9525">
            <a:solidFill>
              <a:srgbClr val="E5E5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046.png" id="471" name="Google Shape;471;p5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043166" y="3520990"/>
            <a:ext cx="1625346" cy="930923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57"/>
          <p:cNvSpPr/>
          <p:nvPr/>
        </p:nvSpPr>
        <p:spPr>
          <a:xfrm>
            <a:off x="5893594" y="2228850"/>
            <a:ext cx="111919" cy="121444"/>
          </a:xfrm>
          <a:prstGeom prst="rect">
            <a:avLst/>
          </a:prstGeom>
          <a:noFill/>
          <a:ln cap="flat" cmpd="sng" w="38100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57"/>
          <p:cNvSpPr/>
          <p:nvPr/>
        </p:nvSpPr>
        <p:spPr>
          <a:xfrm>
            <a:off x="7743921" y="2655453"/>
            <a:ext cx="111919" cy="121444"/>
          </a:xfrm>
          <a:prstGeom prst="rect">
            <a:avLst/>
          </a:prstGeom>
          <a:noFill/>
          <a:ln cap="flat" cmpd="sng" w="38100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57"/>
          <p:cNvSpPr/>
          <p:nvPr/>
        </p:nvSpPr>
        <p:spPr>
          <a:xfrm>
            <a:off x="5667118" y="3695497"/>
            <a:ext cx="143648" cy="125374"/>
          </a:xfrm>
          <a:prstGeom prst="rect">
            <a:avLst/>
          </a:prstGeom>
          <a:noFill/>
          <a:ln cap="flat" cmpd="sng" w="38100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57"/>
          <p:cNvSpPr/>
          <p:nvPr/>
        </p:nvSpPr>
        <p:spPr>
          <a:xfrm>
            <a:off x="7356595" y="3904944"/>
            <a:ext cx="143648" cy="125374"/>
          </a:xfrm>
          <a:prstGeom prst="rect">
            <a:avLst/>
          </a:prstGeom>
          <a:noFill/>
          <a:ln cap="flat" cmpd="sng" w="38100">
            <a:solidFill>
              <a:srgbClr val="5F49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77" name="Google Shape;477;p5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955280" y="240030"/>
            <a:ext cx="960120" cy="203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