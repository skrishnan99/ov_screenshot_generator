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1731764" y="-188713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3549253" y="1628776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406003" y="142876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541735" y="3305176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34290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3486150" y="1200151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342900" y="204787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342900" y="1076326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342900" y="1200151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None/>
              <a:defRPr b="0" i="0" sz="14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9"/>
          <p:cNvSpPr/>
          <p:nvPr/>
        </p:nvSpPr>
        <p:spPr>
          <a:xfrm>
            <a:off x="0" y="0"/>
            <a:ext cx="2468880" cy="51435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59"/>
          <p:cNvSpPr txBox="1"/>
          <p:nvPr/>
        </p:nvSpPr>
        <p:spPr>
          <a:xfrm>
            <a:off x="342900" y="685800"/>
            <a:ext cx="1920240" cy="1721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Team &amp;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Locations.</a:t>
            </a:r>
            <a:endParaRPr/>
          </a:p>
        </p:txBody>
      </p:sp>
      <p:sp>
        <p:nvSpPr>
          <p:cNvPr id="503" name="Google Shape;503;p59"/>
          <p:cNvSpPr txBox="1"/>
          <p:nvPr/>
        </p:nvSpPr>
        <p:spPr>
          <a:xfrm>
            <a:off x="342900" y="2194560"/>
            <a:ext cx="1920240" cy="694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(844) 799-7044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1700 Montgomery St, Ste 221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San Francisco, CA 94111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United States</a:t>
            </a:r>
            <a:endParaRPr/>
          </a:p>
        </p:txBody>
      </p:sp>
      <p:sp>
        <p:nvSpPr>
          <p:cNvPr id="504" name="Google Shape;504;p59"/>
          <p:cNvSpPr txBox="1"/>
          <p:nvPr/>
        </p:nvSpPr>
        <p:spPr>
          <a:xfrm>
            <a:off x="342900" y="3497581"/>
            <a:ext cx="1920240" cy="1612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HQ in San Francisco, CA</a:t>
            </a:r>
            <a:endParaRPr/>
          </a:p>
        </p:txBody>
      </p:sp>
      <p:sp>
        <p:nvSpPr>
          <p:cNvPr id="505" name="Google Shape;505;p59"/>
          <p:cNvSpPr txBox="1"/>
          <p:nvPr/>
        </p:nvSpPr>
        <p:spPr>
          <a:xfrm>
            <a:off x="2743200" y="480060"/>
            <a:ext cx="1714500" cy="142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Remote personnel — Worldwide</a:t>
            </a:r>
            <a:endParaRPr/>
          </a:p>
        </p:txBody>
      </p:sp>
      <p:sp>
        <p:nvSpPr>
          <p:cNvPr id="506" name="Google Shape;506;p59"/>
          <p:cNvSpPr txBox="1"/>
          <p:nvPr/>
        </p:nvSpPr>
        <p:spPr>
          <a:xfrm>
            <a:off x="2743200" y="994411"/>
            <a:ext cx="1440180" cy="1551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United States</a:t>
            </a:r>
            <a:endParaRPr/>
          </a:p>
        </p:txBody>
      </p:sp>
      <p:sp>
        <p:nvSpPr>
          <p:cNvPr id="507" name="Google Shape;507;p59"/>
          <p:cNvSpPr txBox="1"/>
          <p:nvPr/>
        </p:nvSpPr>
        <p:spPr>
          <a:xfrm>
            <a:off x="2743200" y="1303020"/>
            <a:ext cx="1440180" cy="1583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San Francisco, CA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Columbus, OH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Nashville, TN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Seattle, WA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Iowa City, IA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Atlanta, GA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Charlotte, NC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Detroit, MI</a:t>
            </a:r>
            <a:endParaRPr b="0" i="0" sz="825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Austin, TX</a:t>
            </a:r>
            <a:endParaRPr/>
          </a:p>
        </p:txBody>
      </p:sp>
      <p:sp>
        <p:nvSpPr>
          <p:cNvPr id="508" name="Google Shape;508;p59"/>
          <p:cNvSpPr txBox="1"/>
          <p:nvPr/>
        </p:nvSpPr>
        <p:spPr>
          <a:xfrm>
            <a:off x="4251960" y="994411"/>
            <a:ext cx="1440180" cy="1551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Americas</a:t>
            </a:r>
            <a:endParaRPr/>
          </a:p>
        </p:txBody>
      </p:sp>
      <p:sp>
        <p:nvSpPr>
          <p:cNvPr id="509" name="Google Shape;509;p59"/>
          <p:cNvSpPr txBox="1"/>
          <p:nvPr/>
        </p:nvSpPr>
        <p:spPr>
          <a:xfrm>
            <a:off x="4251960" y="1303020"/>
            <a:ext cx="1440180" cy="694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CDMX, MX</a:t>
            </a:r>
            <a:endParaRPr b="0" i="0" sz="825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Guadalajara, MX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Hermosillo, MX</a:t>
            </a:r>
            <a:endParaRPr b="0" i="0" sz="825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Curitiba, Brazil</a:t>
            </a:r>
            <a:endParaRPr/>
          </a:p>
        </p:txBody>
      </p:sp>
      <p:sp>
        <p:nvSpPr>
          <p:cNvPr id="510" name="Google Shape;510;p59"/>
          <p:cNvSpPr txBox="1"/>
          <p:nvPr/>
        </p:nvSpPr>
        <p:spPr>
          <a:xfrm>
            <a:off x="5760720" y="994411"/>
            <a:ext cx="1440180" cy="1551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Asia</a:t>
            </a:r>
            <a:endParaRPr/>
          </a:p>
        </p:txBody>
      </p:sp>
      <p:sp>
        <p:nvSpPr>
          <p:cNvPr id="511" name="Google Shape;511;p59"/>
          <p:cNvSpPr txBox="1"/>
          <p:nvPr/>
        </p:nvSpPr>
        <p:spPr>
          <a:xfrm>
            <a:off x="5760720" y="1303020"/>
            <a:ext cx="1440180" cy="1227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Taipei, TW</a:t>
            </a:r>
            <a:endParaRPr b="0" i="0" sz="825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Shanghai,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Nantong,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Shenzhen,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Haiyan,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 Noi, VN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Bengaluru, IN</a:t>
            </a:r>
            <a:endParaRPr b="0" i="0" sz="825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9"/>
          <p:cNvSpPr txBox="1"/>
          <p:nvPr/>
        </p:nvSpPr>
        <p:spPr>
          <a:xfrm>
            <a:off x="7269480" y="994411"/>
            <a:ext cx="1440180" cy="1551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Europe</a:t>
            </a:r>
            <a:endParaRPr/>
          </a:p>
        </p:txBody>
      </p:sp>
      <p:sp>
        <p:nvSpPr>
          <p:cNvPr id="513" name="Google Shape;513;p59"/>
          <p:cNvSpPr txBox="1"/>
          <p:nvPr/>
        </p:nvSpPr>
        <p:spPr>
          <a:xfrm>
            <a:off x="7269480" y="1303021"/>
            <a:ext cx="1440180" cy="1612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25"/>
              <a:buFont typeface="Calibri"/>
              <a:buNone/>
            </a:pPr>
            <a:r>
              <a:rPr b="0" i="0" lang="en" sz="825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Zurich, Switzerland</a:t>
            </a:r>
            <a:endParaRPr/>
          </a:p>
        </p:txBody>
      </p:sp>
      <p:pic>
        <p:nvPicPr>
          <p:cNvPr descr="a151_1292cbef536f.png" id="514" name="Google Shape;514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43200" y="2478024"/>
            <a:ext cx="6172200" cy="295952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6" name="Google Shape;516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55280" y="240030"/>
            <a:ext cx="960120" cy="2030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