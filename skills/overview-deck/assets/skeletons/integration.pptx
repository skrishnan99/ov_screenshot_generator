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63" name="Google Shape;263;p3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4" name="Google Shape;314;p43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3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316" name="Google Shape;316;p4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7" name="Google Shape;317;p4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8" name="Google Shape;318;p4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4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1" name="Google Shape;321;p44"/>
          <p:cNvSpPr txBox="1"/>
          <p:nvPr>
            <p:ph idx="1" type="body"/>
          </p:nvPr>
        </p:nvSpPr>
        <p:spPr>
          <a:xfrm rot="5400000">
            <a:off x="1731764" y="-188713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2" name="Google Shape;322;p4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3" name="Google Shape;323;p4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4" name="Google Shape;324;p4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5"/>
          <p:cNvSpPr txBox="1"/>
          <p:nvPr>
            <p:ph type="title"/>
          </p:nvPr>
        </p:nvSpPr>
        <p:spPr>
          <a:xfrm rot="5400000">
            <a:off x="3549253" y="1628776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45"/>
          <p:cNvSpPr txBox="1"/>
          <p:nvPr>
            <p:ph idx="1" type="body"/>
          </p:nvPr>
        </p:nvSpPr>
        <p:spPr>
          <a:xfrm rot="5400000">
            <a:off x="406003" y="142876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4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9" name="Google Shape;329;p4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30" name="Google Shape;330;p4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6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36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9" name="Google Shape;269;p3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0" name="Google Shape;270;p3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4" name="Google Shape;274;p37"/>
          <p:cNvSpPr txBox="1"/>
          <p:nvPr>
            <p:ph idx="1" type="body"/>
          </p:nvPr>
        </p:nvSpPr>
        <p:spPr>
          <a:xfrm>
            <a:off x="342900" y="1200151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5" name="Google Shape;275;p3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6" name="Google Shape;276;p3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8"/>
          <p:cNvSpPr txBox="1"/>
          <p:nvPr>
            <p:ph type="title"/>
          </p:nvPr>
        </p:nvSpPr>
        <p:spPr>
          <a:xfrm>
            <a:off x="541735" y="3305176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0" name="Google Shape;280;p38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1" name="Google Shape;281;p3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2" name="Google Shape;282;p3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3" name="Google Shape;283;p3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9"/>
          <p:cNvSpPr txBox="1"/>
          <p:nvPr>
            <p:ph idx="1" type="body"/>
          </p:nvPr>
        </p:nvSpPr>
        <p:spPr>
          <a:xfrm>
            <a:off x="342900" y="1200151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4325" lvl="3" marL="1828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indent="-314325" lvl="4" marL="22860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indent="-314325" lvl="5" marL="27432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indent="-314325" lvl="6" marL="32004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indent="-314325" lvl="7" marL="3657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indent="-314325" lvl="8" marL="4114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/>
        </p:txBody>
      </p:sp>
      <p:sp>
        <p:nvSpPr>
          <p:cNvPr id="287" name="Google Shape;287;p39"/>
          <p:cNvSpPr txBox="1"/>
          <p:nvPr>
            <p:ph idx="2" type="body"/>
          </p:nvPr>
        </p:nvSpPr>
        <p:spPr>
          <a:xfrm>
            <a:off x="3486150" y="1200151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4325" lvl="3" marL="1828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indent="-314325" lvl="4" marL="22860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indent="-314325" lvl="5" marL="27432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indent="-314325" lvl="6" marL="32004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indent="-314325" lvl="7" marL="3657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indent="-314325" lvl="8" marL="4114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/>
        </p:txBody>
      </p:sp>
      <p:sp>
        <p:nvSpPr>
          <p:cNvPr id="288" name="Google Shape;288;p3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9" name="Google Shape;289;p3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0" name="Google Shape;290;p3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40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94" name="Google Shape;294;p40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4325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295" name="Google Shape;295;p40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96" name="Google Shape;296;p40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4325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297" name="Google Shape;297;p4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8" name="Google Shape;298;p4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9" name="Google Shape;299;p4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2" name="Google Shape;302;p4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03" name="Google Shape;303;p4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04" name="Google Shape;304;p4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2"/>
          <p:cNvSpPr txBox="1"/>
          <p:nvPr>
            <p:ph type="title"/>
          </p:nvPr>
        </p:nvSpPr>
        <p:spPr>
          <a:xfrm>
            <a:off x="342900" y="204787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7" name="Google Shape;307;p42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308" name="Google Shape;308;p42"/>
          <p:cNvSpPr txBox="1"/>
          <p:nvPr>
            <p:ph idx="2" type="body"/>
          </p:nvPr>
        </p:nvSpPr>
        <p:spPr>
          <a:xfrm>
            <a:off x="342900" y="1076326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309" name="Google Shape;309;p4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0" name="Google Shape;310;p4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1" name="Google Shape;311;p4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7" name="Google Shape;257;p33"/>
          <p:cNvSpPr txBox="1"/>
          <p:nvPr>
            <p:ph idx="1" type="body"/>
          </p:nvPr>
        </p:nvSpPr>
        <p:spPr>
          <a:xfrm>
            <a:off x="342900" y="1200151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8" name="Google Shape;258;p3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9" name="Google Shape;259;p3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jp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8"/>
          <p:cNvSpPr/>
          <p:nvPr/>
        </p:nvSpPr>
        <p:spPr>
          <a:xfrm>
            <a:off x="8113014" y="4834890"/>
            <a:ext cx="6858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8895"/>
              </a:buClr>
              <a:buSzPts val="675"/>
              <a:buFont typeface="Proxima Nova"/>
              <a:buNone/>
            </a:pPr>
            <a:r>
              <a:rPr b="0" i="0" lang="en" sz="675" u="none" cap="none" strike="noStrike">
                <a:solidFill>
                  <a:srgbClr val="8A8895"/>
                </a:solidFill>
                <a:latin typeface="Proxima Nova"/>
                <a:ea typeface="Proxima Nova"/>
                <a:cs typeface="Proxima Nova"/>
                <a:sym typeface="Proxima Nova"/>
              </a:rPr>
              <a:t>12</a:t>
            </a:r>
            <a:endParaRPr b="0" i="0" sz="675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58"/>
          <p:cNvSpPr/>
          <p:nvPr/>
        </p:nvSpPr>
        <p:spPr>
          <a:xfrm>
            <a:off x="342900" y="774954"/>
            <a:ext cx="78867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2100"/>
              <a:buFont typeface="Proxima Nova"/>
              <a:buNone/>
            </a:pPr>
            <a:r>
              <a:rPr b="1" i="0" lang="en" sz="21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Integration built for everyone.</a:t>
            </a:r>
            <a:endParaRPr b="0" i="0" sz="21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58"/>
          <p:cNvSpPr/>
          <p:nvPr/>
        </p:nvSpPr>
        <p:spPr>
          <a:xfrm>
            <a:off x="342900" y="1165860"/>
            <a:ext cx="788670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900"/>
              <a:buFont typeface="Proxima Nova"/>
              <a:buNone/>
            </a:pPr>
            <a:r>
              <a:rPr b="0" i="0" lang="en" sz="9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Controls engineers are some of the busiest people in the factory. Customize what works best for them, no code required.</a:t>
            </a:r>
            <a:endParaRPr b="0" i="0" sz="9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58"/>
          <p:cNvSpPr/>
          <p:nvPr/>
        </p:nvSpPr>
        <p:spPr>
          <a:xfrm>
            <a:off x="342900" y="1690050"/>
            <a:ext cx="123444" cy="123444"/>
          </a:xfrm>
          <a:prstGeom prst="ellipse">
            <a:avLst/>
          </a:prstGeom>
          <a:solidFill>
            <a:srgbClr val="8B6FE8"/>
          </a:solidFill>
          <a:ln cap="flat" cmpd="sng" w="12700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58"/>
          <p:cNvSpPr/>
          <p:nvPr/>
        </p:nvSpPr>
        <p:spPr>
          <a:xfrm>
            <a:off x="562356" y="1648902"/>
            <a:ext cx="2180844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050"/>
              <a:buFont typeface="Proxima Nova"/>
              <a:buNone/>
            </a:pPr>
            <a:r>
              <a:rPr b="1" i="0" lang="en" sz="105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Drag-and-drop logic</a:t>
            </a:r>
            <a:endParaRPr b="0" i="0" sz="105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58"/>
          <p:cNvSpPr/>
          <p:nvPr/>
        </p:nvSpPr>
        <p:spPr>
          <a:xfrm>
            <a:off x="562356" y="1882074"/>
            <a:ext cx="2180844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825"/>
              <a:buFont typeface="Proxima Nova"/>
              <a:buNone/>
            </a:pPr>
            <a:r>
              <a:rPr b="0" i="0" lang="en" sz="825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Anyone can author inspection logic without writing code.</a:t>
            </a:r>
            <a:endParaRPr b="0" i="0" sz="825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8"/>
          <p:cNvSpPr/>
          <p:nvPr/>
        </p:nvSpPr>
        <p:spPr>
          <a:xfrm>
            <a:off x="342900" y="2492436"/>
            <a:ext cx="123444" cy="123444"/>
          </a:xfrm>
          <a:prstGeom prst="ellipse">
            <a:avLst/>
          </a:prstGeom>
          <a:solidFill>
            <a:srgbClr val="8B6FE8"/>
          </a:solidFill>
          <a:ln cap="flat" cmpd="sng" w="12700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58"/>
          <p:cNvSpPr/>
          <p:nvPr/>
        </p:nvSpPr>
        <p:spPr>
          <a:xfrm>
            <a:off x="562356" y="2451288"/>
            <a:ext cx="2180844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050"/>
              <a:buFont typeface="Proxima Nova"/>
              <a:buNone/>
            </a:pPr>
            <a:r>
              <a:rPr b="1" i="0" lang="en" sz="105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PLC, MES, HMI</a:t>
            </a:r>
            <a:endParaRPr b="0" i="0" sz="105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58"/>
          <p:cNvSpPr/>
          <p:nvPr/>
        </p:nvSpPr>
        <p:spPr>
          <a:xfrm>
            <a:off x="562356" y="2684460"/>
            <a:ext cx="2180844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825"/>
              <a:buFont typeface="Proxima Nova"/>
              <a:buNone/>
            </a:pPr>
            <a:r>
              <a:rPr b="0" i="0" lang="en" sz="825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Bring real factory data into the camera and push results back out.</a:t>
            </a:r>
            <a:endParaRPr b="0" i="0" sz="825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58"/>
          <p:cNvSpPr/>
          <p:nvPr/>
        </p:nvSpPr>
        <p:spPr>
          <a:xfrm>
            <a:off x="342900" y="3294822"/>
            <a:ext cx="123444" cy="123444"/>
          </a:xfrm>
          <a:prstGeom prst="ellipse">
            <a:avLst/>
          </a:prstGeom>
          <a:solidFill>
            <a:srgbClr val="8B6FE8"/>
          </a:solidFill>
          <a:ln cap="flat" cmpd="sng" w="12700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58"/>
          <p:cNvSpPr/>
          <p:nvPr/>
        </p:nvSpPr>
        <p:spPr>
          <a:xfrm>
            <a:off x="562356" y="3253674"/>
            <a:ext cx="2180844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050"/>
              <a:buFont typeface="Proxima Nova"/>
              <a:buNone/>
            </a:pPr>
            <a:r>
              <a:rPr b="1" i="0" lang="en" sz="105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Custom dashboards</a:t>
            </a:r>
            <a:endParaRPr b="0" i="0" sz="105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58"/>
          <p:cNvSpPr/>
          <p:nvPr/>
        </p:nvSpPr>
        <p:spPr>
          <a:xfrm>
            <a:off x="562356" y="3486846"/>
            <a:ext cx="2180844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825"/>
              <a:buFont typeface="Proxima Nova"/>
              <a:buNone/>
            </a:pPr>
            <a:r>
              <a:rPr b="0" i="0" lang="en" sz="825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Generate the views and reports each engineer actually needs.</a:t>
            </a:r>
            <a:endParaRPr b="0" i="0" sz="825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wonderful-magical-sagan/mnt/outputs/corp_intro_unpacked/ppt/media/image25.png" id="495" name="Google Shape;495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54121" y="1477899"/>
            <a:ext cx="6149303" cy="308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6" name="Google Shape;496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55280" y="240030"/>
            <a:ext cx="960120" cy="2030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