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792243" y="4800480"/>
            <a:ext cx="5486263" cy="566724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792243" y="612759"/>
            <a:ext cx="5486263" cy="4114697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792243" y="5367203"/>
            <a:ext cx="5486263" cy="804843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2308961" y="-251611"/>
            <a:ext cx="4525849" cy="8229394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4732219" y="2171647"/>
            <a:ext cx="5851379" cy="2057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541324" y="190497"/>
            <a:ext cx="5851379" cy="60196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685783" y="2130372"/>
            <a:ext cx="7772206" cy="146998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371566" y="3886103"/>
            <a:ext cx="6400640" cy="1752556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722295" y="4406791"/>
            <a:ext cx="7772206" cy="1362041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722295" y="2906641"/>
            <a:ext cx="7772206" cy="1500149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457189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4648084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457189" y="1535075"/>
            <a:ext cx="4040087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457189" y="2174820"/>
            <a:ext cx="4040087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4644909" y="1535075"/>
            <a:ext cx="4041674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4644909" y="2174820"/>
            <a:ext cx="4041674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457189" y="273043"/>
            <a:ext cx="3008238" cy="1162022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3574960" y="273044"/>
            <a:ext cx="5111623" cy="5852967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36195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2385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2385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2385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2385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2385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2385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457189" y="1435065"/>
            <a:ext cx="3008238" cy="4690945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jp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58"/>
          <p:cNvSpPr/>
          <p:nvPr/>
        </p:nvSpPr>
        <p:spPr>
          <a:xfrm>
            <a:off x="457189" y="1033246"/>
            <a:ext cx="10515337" cy="5029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2800"/>
              <a:buFont typeface="Proxima Nova"/>
              <a:buNone/>
            </a:pPr>
            <a:r>
              <a:rPr b="1" i="0" lang="en" sz="28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Integration built for everyone.</a:t>
            </a:r>
            <a:endParaRPr b="0" i="0" sz="28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58"/>
          <p:cNvSpPr/>
          <p:nvPr/>
        </p:nvSpPr>
        <p:spPr>
          <a:xfrm>
            <a:off x="457189" y="1554441"/>
            <a:ext cx="10515337" cy="384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200"/>
              <a:buFont typeface="Proxima Nova"/>
              <a:buNone/>
            </a:pPr>
            <a:r>
              <a:rPr b="0" i="0" lang="en" sz="12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Controls engineers are some of the busiest people in the factory. Customize what works best for them, no code required.</a:t>
            </a:r>
            <a:endParaRPr b="0" i="0" sz="12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58"/>
          <p:cNvSpPr/>
          <p:nvPr/>
        </p:nvSpPr>
        <p:spPr>
          <a:xfrm>
            <a:off x="457189" y="2253344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58"/>
          <p:cNvSpPr/>
          <p:nvPr/>
        </p:nvSpPr>
        <p:spPr>
          <a:xfrm>
            <a:off x="749789" y="2198481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Drag-and-drop logic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58"/>
          <p:cNvSpPr/>
          <p:nvPr/>
        </p:nvSpPr>
        <p:spPr>
          <a:xfrm>
            <a:off x="749789" y="2509369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Anyone can author inspection logic without writing code.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8"/>
          <p:cNvSpPr/>
          <p:nvPr/>
        </p:nvSpPr>
        <p:spPr>
          <a:xfrm>
            <a:off x="457189" y="3323165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58"/>
          <p:cNvSpPr/>
          <p:nvPr/>
        </p:nvSpPr>
        <p:spPr>
          <a:xfrm>
            <a:off x="749789" y="3268302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PLC, MES, HMI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58"/>
          <p:cNvSpPr/>
          <p:nvPr/>
        </p:nvSpPr>
        <p:spPr>
          <a:xfrm>
            <a:off x="749789" y="3579190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Bring real factory data into the camera and push results back out.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58"/>
          <p:cNvSpPr/>
          <p:nvPr/>
        </p:nvSpPr>
        <p:spPr>
          <a:xfrm>
            <a:off x="457189" y="4392986"/>
            <a:ext cx="164588" cy="164588"/>
          </a:xfrm>
          <a:prstGeom prst="ellipse">
            <a:avLst/>
          </a:prstGeom>
          <a:solidFill>
            <a:srgbClr val="8B6FE8"/>
          </a:solidFill>
          <a:ln cap="flat" cmpd="sng" w="16933">
            <a:solidFill>
              <a:srgbClr val="8B6F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0932" lIns="121897" spcFirstLastPara="1" rIns="121897" wrap="square" tIns="60932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58"/>
          <p:cNvSpPr/>
          <p:nvPr/>
        </p:nvSpPr>
        <p:spPr>
          <a:xfrm>
            <a:off x="749789" y="4338123"/>
            <a:ext cx="2907719" cy="27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428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1A1428"/>
                </a:solidFill>
                <a:latin typeface="Proxima Nova"/>
                <a:ea typeface="Proxima Nova"/>
                <a:cs typeface="Proxima Nova"/>
                <a:sym typeface="Proxima Nova"/>
              </a:rPr>
              <a:t>Custom dashboards</a:t>
            </a:r>
            <a:endParaRPr b="0" i="0" sz="14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58"/>
          <p:cNvSpPr/>
          <p:nvPr/>
        </p:nvSpPr>
        <p:spPr>
          <a:xfrm>
            <a:off x="749789" y="4649012"/>
            <a:ext cx="2907719" cy="6857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4A55"/>
              </a:buClr>
              <a:buSzPts val="1100"/>
              <a:buFont typeface="Proxima Nova"/>
              <a:buNone/>
            </a:pPr>
            <a:r>
              <a:rPr b="0" i="0" lang="en" sz="1100" u="none" cap="none" strike="noStrike">
                <a:solidFill>
                  <a:srgbClr val="4A4A55"/>
                </a:solidFill>
                <a:latin typeface="Proxima Nova"/>
                <a:ea typeface="Proxima Nova"/>
                <a:cs typeface="Proxima Nova"/>
                <a:sym typeface="Proxima Nova"/>
              </a:rPr>
              <a:t>Generate the views and reports each engineer actually needs.</a:t>
            </a:r>
            <a:endParaRPr b="0" i="0" sz="1100" u="none" cap="none" strike="noStrike">
              <a:solidFill>
                <a:srgbClr val="C05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wonderful-magical-sagan/mnt/outputs/corp_intro_unpacked/ppt/media/image25.png" id="495" name="Google Shape;495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05399" y="1970483"/>
            <a:ext cx="8198866" cy="4110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6" name="Google Shape;496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06775" y="320032"/>
            <a:ext cx="1280128" cy="2707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