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4581850" y="0"/>
            <a:ext cx="4562101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00"/>
              <a:buFont typeface="Montserrat"/>
              <a:buNone/>
              <a:defRPr b="1" sz="8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4585535" y="132770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4585535" y="181471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4585535" y="2301778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4585535" y="278884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4585535" y="3275906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4585535" y="3762917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4585535" y="424998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4585535" y="47369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4585535" y="3535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4585535" y="840635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4586627" y="-102"/>
            <a:ext cx="4337478" cy="5143551"/>
            <a:chOff x="-1" y="0"/>
            <a:chExt cx="4337477" cy="5143549"/>
          </a:xfrm>
        </p:grpSpPr>
        <p:cxnSp>
          <p:nvCxnSpPr>
            <p:cNvPr id="69" name="Google Shape;69;p14"/>
            <p:cNvCxnSpPr/>
            <p:nvPr/>
          </p:nvCxnSpPr>
          <p:spPr>
            <a:xfrm flipH="1">
              <a:off x="-1" y="0"/>
              <a:ext cx="2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48191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 flipH="1">
              <a:off x="963829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 flipH="1">
              <a:off x="144574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 flipH="1">
              <a:off x="192765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 flipH="1">
              <a:off x="2409573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 flipH="1">
              <a:off x="289156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 flipH="1">
              <a:off x="337348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 flipH="1">
              <a:off x="385548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 flipH="1">
              <a:off x="4337475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277499" y="734599"/>
            <a:ext cx="1383901" cy="1660201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277499" y="2521174"/>
            <a:ext cx="1383901" cy="1879202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1867633" y="850900"/>
            <a:ext cx="2589301" cy="3433200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5778174" y="1800749"/>
            <a:ext cx="2820601" cy="10236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4572000" y="2571750"/>
            <a:ext cx="3585001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277499" y="2571741"/>
            <a:ext cx="3585002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277499" y="416249"/>
            <a:ext cx="3630902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4839675" y="840449"/>
            <a:ext cx="3759001" cy="744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■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●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Char char="○"/>
              <a:defRPr sz="9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610399"/>
            <a:ext cx="192001" cy="19200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4839675" y="1845849"/>
            <a:ext cx="3759001" cy="744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16158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4839675" y="2851249"/>
            <a:ext cx="3759001" cy="7443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2621200"/>
            <a:ext cx="192001" cy="192001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4839675" y="3864850"/>
            <a:ext cx="3759001" cy="744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9900" y="3634799"/>
            <a:ext cx="192001" cy="1920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 flipH="1">
            <a:off x="4278050" y="287400"/>
            <a:ext cx="1" cy="4573501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277499" y="1061865"/>
            <a:ext cx="3428702" cy="20118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277499" y="1934926"/>
            <a:ext cx="830102" cy="114805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545225" y="3722999"/>
            <a:ext cx="3550500" cy="10668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Montserrat"/>
              <a:buNone/>
              <a:defRPr b="1" sz="9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545225" y="2315324"/>
            <a:ext cx="3550501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4309293" y="1934926"/>
            <a:ext cx="830101" cy="114805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6300"/>
              <a:buFont typeface="Work Sans"/>
              <a:buNone/>
            </a:pPr>
            <a:r>
              <a:rPr b="1" i="0" lang="en" sz="63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4577017" y="2315324"/>
            <a:ext cx="3550501" cy="1098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5321925" y="506100"/>
            <a:ext cx="3544501" cy="579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Montserrat SemiBold"/>
              <a:buNone/>
              <a:defRPr sz="2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4572000" y="526825"/>
            <a:ext cx="4026900" cy="4333200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277499" y="3324652"/>
            <a:ext cx="1759201" cy="2901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100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289099" y="1336780"/>
            <a:ext cx="1751102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167688" y="1336780"/>
            <a:ext cx="1751101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4046275" y="1336780"/>
            <a:ext cx="1751101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5912713" y="1336780"/>
            <a:ext cx="1751101" cy="1772999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277499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163638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4049776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5900113" y="3660092"/>
            <a:ext cx="1759201" cy="4986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277499" y="1170424"/>
            <a:ext cx="8589001" cy="368970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545225" y="277499"/>
            <a:ext cx="8053500" cy="597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163549" y="153950"/>
            <a:ext cx="8803501" cy="4820100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457200" y="408397"/>
            <a:ext cx="8141700" cy="519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7583124" y="4744075"/>
            <a:ext cx="1560901" cy="399601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457200" y="927799"/>
            <a:ext cx="3832801" cy="192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100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4" r="0" t="0"/>
          <a:stretch/>
        </p:blipFill>
        <p:spPr>
          <a:xfrm>
            <a:off x="7761816" y="4819961"/>
            <a:ext cx="852438" cy="19199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457200" y="1652299"/>
            <a:ext cx="4115100" cy="19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8826138" y="4853987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163550" y="153950"/>
            <a:ext cx="8803501" cy="4820101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457200" y="408396"/>
            <a:ext cx="8141700" cy="519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7583124" y="4744074"/>
            <a:ext cx="1560901" cy="399601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457200" y="927800"/>
            <a:ext cx="3832801" cy="192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800"/>
              <a:buFont typeface="Host Grotesk SemiBold"/>
              <a:buNone/>
              <a:defRPr sz="800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3" r="0" t="0"/>
          <a:stretch/>
        </p:blipFill>
        <p:spPr>
          <a:xfrm>
            <a:off x="7761815" y="4819962"/>
            <a:ext cx="852448" cy="191992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457200" y="1652300"/>
            <a:ext cx="4115100" cy="19731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8826138" y="4853987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8" lvl="0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8" lvl="1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8" lvl="2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8" lvl="3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8" lvl="4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8" lvl="5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8" lvl="6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8" lvl="7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8" lvl="8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700"/>
              <a:buFont typeface="Montserrat"/>
              <a:buNone/>
              <a:defRPr b="1" sz="7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8" lvl="0" marL="50798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8755643" y="4749851"/>
            <a:ext cx="349841" cy="340440"/>
          </a:xfrm>
          <a:prstGeom prst="rect">
            <a:avLst/>
          </a:prstGeom>
          <a:noFill/>
          <a:ln>
            <a:noFill/>
          </a:ln>
        </p:spPr>
        <p:txBody>
          <a:bodyPr anchorCtr="0" anchor="t" bIns="83800" lIns="83800" spcFirstLastPara="1" rIns="83800" wrap="square" tIns="838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281924" y="276249"/>
            <a:ext cx="8589001" cy="4599001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2598474" y="3493075"/>
            <a:ext cx="5985302" cy="99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sz="4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417936" y="2663234"/>
            <a:ext cx="1337400" cy="3909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100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417811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167325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3903300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5648624" y="3187835"/>
            <a:ext cx="1337401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7385291" y="3187835"/>
            <a:ext cx="1337400" cy="1176901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7986349" y="205150"/>
            <a:ext cx="888051" cy="25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84850" y="1412325"/>
            <a:ext cx="3919200" cy="22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4581850" y="0"/>
            <a:ext cx="4562101" cy="5143500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2400"/>
              <a:buFont typeface="Montserrat"/>
              <a:buNone/>
              <a:defRPr b="1" sz="24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4585535" y="132770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4585535" y="181471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4585535" y="2301778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4585535" y="278884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4585535" y="3275906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4585535" y="3762917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4585535" y="4249983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4585535" y="47369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4585535" y="353570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4585535" y="840635"/>
            <a:ext cx="45621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4586627" y="-102"/>
            <a:ext cx="4337478" cy="5143551"/>
            <a:chOff x="-1" y="0"/>
            <a:chExt cx="4337477" cy="5143549"/>
          </a:xfrm>
        </p:grpSpPr>
        <p:cxnSp>
          <p:nvCxnSpPr>
            <p:cNvPr id="113" name="Google Shape;113;p18"/>
            <p:cNvCxnSpPr/>
            <p:nvPr/>
          </p:nvCxnSpPr>
          <p:spPr>
            <a:xfrm flipH="1">
              <a:off x="-1" y="0"/>
              <a:ext cx="2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 flipH="1">
              <a:off x="48191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 flipH="1">
              <a:off x="963829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 flipH="1">
              <a:off x="144574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 flipH="1">
              <a:off x="192765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 flipH="1">
              <a:off x="2409573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 flipH="1">
              <a:off x="289156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 flipH="1">
              <a:off x="337348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 flipH="1">
              <a:off x="385548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 flipH="1">
              <a:off x="4337475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281924" y="276249"/>
            <a:ext cx="8589001" cy="4599001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</a:pPr>
            <a:r>
              <a:t/>
            </a:r>
            <a:endParaRPr b="0" i="0" sz="1400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821003" y="3923105"/>
            <a:ext cx="5859302" cy="4527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550875" y="792575"/>
            <a:ext cx="8052900" cy="1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550875" y="4521775"/>
            <a:ext cx="8045099" cy="1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795524" y="2244455"/>
            <a:ext cx="6121801" cy="14106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50874" y="466645"/>
            <a:ext cx="1112102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277499" y="416249"/>
            <a:ext cx="8589001" cy="885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277499" y="278850"/>
            <a:ext cx="3832802" cy="1374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800"/>
              <a:buFont typeface="Montserrat"/>
              <a:buNone/>
              <a:defRPr b="1" sz="800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18926" y="353578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18926" y="840642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18926" y="1327705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18926" y="1814716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18926" y="2301780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3526" y="-102"/>
            <a:ext cx="9156707" cy="5143552"/>
            <a:chOff x="-1" y="0"/>
            <a:chExt cx="9156707" cy="5143550"/>
          </a:xfrm>
        </p:grpSpPr>
        <p:cxnSp>
          <p:nvCxnSpPr>
            <p:cNvPr id="144" name="Google Shape;144;p21"/>
            <p:cNvCxnSpPr/>
            <p:nvPr/>
          </p:nvCxnSpPr>
          <p:spPr>
            <a:xfrm flipH="1">
              <a:off x="48191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flipH="1">
              <a:off x="963829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flipH="1">
              <a:off x="144574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 flipH="1">
              <a:off x="192765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 flipH="1">
              <a:off x="2409574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 flipH="1">
              <a:off x="289148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 flipH="1">
              <a:off x="-1" y="0"/>
              <a:ext cx="2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 flipH="1">
              <a:off x="3373403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 flipH="1">
              <a:off x="3855318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 flipH="1">
              <a:off x="433723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 flipH="1">
              <a:off x="4819147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 flipH="1">
              <a:off x="5301062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 flipH="1">
              <a:off x="5782977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 flipH="1">
              <a:off x="6264891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 flipH="1">
              <a:off x="6746806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 flipH="1">
              <a:off x="7228801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 flipH="1">
              <a:off x="7710716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 flipH="1">
              <a:off x="8192721" y="0"/>
              <a:ext cx="1" cy="5143549"/>
            </a:xfrm>
            <a:prstGeom prst="straightConnector1">
              <a:avLst/>
            </a:prstGeom>
            <a:noFill/>
            <a:ln cap="flat" cmpd="sng" w="9525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8674707" y="0"/>
              <a:ext cx="481999" cy="5143550"/>
              <a:chOff x="-1" y="0"/>
              <a:chExt cx="481997" cy="5143549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 flipH="1">
                <a:off x="-1" y="0"/>
                <a:ext cx="2" cy="5143549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 flipH="1">
                <a:off x="481995" y="0"/>
                <a:ext cx="1" cy="5143549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18926" y="2788840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18926" y="3275905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18926" y="3762914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18926" y="4249978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18926" y="4736963"/>
            <a:ext cx="9156601" cy="1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437725" y="1326450"/>
            <a:ext cx="6258901" cy="1948201"/>
          </a:xfrm>
          <a:prstGeom prst="rect">
            <a:avLst/>
          </a:prstGeom>
          <a:solidFill>
            <a:srgbClr val="49369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00" lIns="91400" spcFirstLastPara="1" rIns="91400" wrap="square" tIns="914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500"/>
              <a:buFont typeface="Montserrat SemiBold"/>
              <a:buNone/>
              <a:defRPr sz="35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4539824" y="1730491"/>
            <a:ext cx="4325701" cy="452701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Montserrat"/>
              <a:buNone/>
              <a:defRPr sz="20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277499" y="1059675"/>
            <a:ext cx="4294501" cy="28035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000"/>
              <a:buFont typeface="Montserrat SemiBold"/>
              <a:buNone/>
              <a:defRPr sz="50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7999100" y="227652"/>
            <a:ext cx="867451" cy="207876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8739547" y="4757766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800"/>
              <a:buFont typeface="Montserrat"/>
              <a:buNone/>
              <a:defRPr b="1" sz="800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545225" y="277499"/>
            <a:ext cx="8053500" cy="597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Montserrat SemiBold"/>
              <a:buNone/>
              <a:defRPr b="0" i="0" sz="3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●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○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Font typeface="Helvetica Neue"/>
              <a:buChar char="■"/>
              <a:defRPr b="0" i="0" sz="1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5"/>
          <p:cNvSpPr txBox="1"/>
          <p:nvPr/>
        </p:nvSpPr>
        <p:spPr>
          <a:xfrm>
            <a:off x="290199" y="1046352"/>
            <a:ext cx="85636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None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Easier root cause analysis, faster retraining and redeploying. Easy production data retraining. </a:t>
            </a:r>
            <a:endParaRPr/>
          </a:p>
        </p:txBody>
      </p:sp>
      <p:sp>
        <p:nvSpPr>
          <p:cNvPr id="411" name="Google Shape;411;p55"/>
          <p:cNvSpPr txBox="1"/>
          <p:nvPr/>
        </p:nvSpPr>
        <p:spPr>
          <a:xfrm>
            <a:off x="277499" y="416249"/>
            <a:ext cx="8589001" cy="6164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3000"/>
              <a:buFont typeface="Montserrat SemiBold"/>
              <a:buNone/>
            </a:pPr>
            <a:r>
              <a:rPr b="1" i="0" lang="en" sz="3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Library: Store &gt;20,000 images on device.</a:t>
            </a:r>
            <a:endParaRPr/>
          </a:p>
        </p:txBody>
      </p:sp>
      <p:sp>
        <p:nvSpPr>
          <p:cNvPr id="412" name="Google Shape;412;p55"/>
          <p:cNvSpPr/>
          <p:nvPr/>
        </p:nvSpPr>
        <p:spPr>
          <a:xfrm>
            <a:off x="723568" y="1518698"/>
            <a:ext cx="5165167" cy="3291045"/>
          </a:xfrm>
          <a:prstGeom prst="rect">
            <a:avLst/>
          </a:prstGeom>
          <a:solidFill>
            <a:srgbClr val="190E42"/>
          </a:solidFill>
          <a:ln cap="flat" cmpd="sng" w="25400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/>
          </a:p>
        </p:txBody>
      </p:sp>
      <p:sp>
        <p:nvSpPr>
          <p:cNvPr id="413" name="Google Shape;413;p55"/>
          <p:cNvSpPr txBox="1"/>
          <p:nvPr/>
        </p:nvSpPr>
        <p:spPr>
          <a:xfrm>
            <a:off x="6324670" y="1515248"/>
            <a:ext cx="2609017" cy="12311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0473" lvl="0" marL="18047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Char char="•"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Storage of training </a:t>
            </a:r>
            <a:r>
              <a:rPr b="1" i="0" lang="en" sz="1400" u="sng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AND</a:t>
            </a: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 production data on the camera itself</a:t>
            </a:r>
            <a:endParaRPr/>
          </a:p>
          <a:p>
            <a:pPr indent="-180473" lvl="0" marL="180473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1465"/>
              </a:buClr>
              <a:buSzPts val="1400"/>
              <a:buFont typeface="Proxima Nova"/>
              <a:buChar char="•"/>
            </a:pPr>
            <a:r>
              <a:rPr b="1" i="0" lang="en" sz="1400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Able to leverage directly to retrain models</a:t>
            </a:r>
            <a:endParaRPr b="1" i="0" sz="1400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